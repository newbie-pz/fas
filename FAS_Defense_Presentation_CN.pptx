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143000"/>
            <a:ext cx="10881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基于 ResNet18 的跨数据集虚假人脸检测实验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51560" y="1874520"/>
            <a:ext cx="100584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Face Anti-Spoofing Baseline · Cross-Dataset Evaluation · Domain Generalization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97280" y="2788920"/>
            <a:ext cx="996696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最终版：按周汇报完整实验链路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3977640"/>
            <a:ext cx="237744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数据入口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097280" y="4187952"/>
            <a:ext cx="237744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808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ProcessedData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0" y="3977640"/>
            <a:ext cx="18288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总图像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657600" y="4187952"/>
            <a:ext cx="182880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104,533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760720" y="3977640"/>
            <a:ext cx="192024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源域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760720" y="4187952"/>
            <a:ext cx="192024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6B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OULU-NPU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955280" y="3977640"/>
            <a:ext cx="301752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目标域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955280" y="4187952"/>
            <a:ext cx="301752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808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CASIA / MSU / Replay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项目总体路线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从可靠 Baseline 到跨域泛化分析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115568"/>
            <a:ext cx="6583680" cy="4800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第一周  数据审计 + 同域 Baseline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        ProcessedData 质量检查；OULU-NPU → ResNet18 → OULU-NPU Test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第二周  跨数据集泛化测试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        OULU → CASIA / MSU-MFSD / Replay-Attack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第三周  泛化增强方法探索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        Strong / Appearance / MixStyle / Fourier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第四周  统一对比与消融式分析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        五方法横向比较、宏平均、提升热力图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第五周  最终报告与答辩</a:t>
            </a:r>
            <a:endParaRPr lang="en-US" sz="1120" dirty="0"/>
          </a:p>
        </p:txBody>
      </p:sp>
      <p:sp>
        <p:nvSpPr>
          <p:cNvPr id="5" name="Text 3"/>
          <p:cNvSpPr/>
          <p:nvPr/>
        </p:nvSpPr>
        <p:spPr>
          <a:xfrm>
            <a:off x="7543800" y="1417320"/>
            <a:ext cx="406908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主线不是只追求同域精度，而是验证并缓解跨数据集性能退化。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所有跨域实验均为 Source-only，目标域不参与训练、微调或参数选择。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最终推荐依据是跨目标域一致性，而不是某个目标域的单点最优。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数据入口与质量审计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最终训练输入已完成可复现只读审计</a:t>
            </a:r>
            <a:endParaRPr lang="en-US" sz="1000" dirty="0"/>
          </a:p>
        </p:txBody>
      </p:sp>
      <p:pic>
        <p:nvPicPr>
          <p:cNvPr id="4" name="Image 0" descr="/mnt/data/fas_artifacts/charts/data_audit_cou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5989320" cy="3154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03720" y="1143000"/>
            <a:ext cx="44805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ProcessedData 审计结论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总图像数：104,533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无法读取：0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无法推断标签：0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异常小图：0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统一分辨率：256×256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frame 命名比例：100%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Group 数：55 / 50 / 35 / 50</a:t>
            </a:r>
            <a:endParaRPr lang="en-US" sz="1230" dirty="0"/>
          </a:p>
        </p:txBody>
      </p:sp>
      <p:sp>
        <p:nvSpPr>
          <p:cNvPr id="6" name="Text 3"/>
          <p:cNvSpPr/>
          <p:nvPr/>
        </p:nvSpPr>
        <p:spPr>
          <a:xfrm>
            <a:off x="822960" y="4617720"/>
            <a:ext cx="105613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边界说明：当前仓库从已完成抽帧和人脸区域预处理的 ProcessedData 开始；原始抽帧 FPS、Face Detector 型号和 bbox 扩展比例未保留，因此报告不作推断性描述。</a:t>
            </a:r>
            <a:endParaRPr lang="en-US" sz="1360" dirty="0"/>
          </a:p>
        </p:txBody>
      </p:sp>
      <p:sp>
        <p:nvSpPr>
          <p:cNvPr id="7" name="Text 4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数据划分与防泄漏协议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Subject-disjoint 是实验可信性的前提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539496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Subject 提取规则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OULU-NPU: 1_1_01_1_frame00000 → 01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MSU-MFSD: real_client026_... → client026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Replay:   client030_session... → client030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CASIA:    train/test 前缀 + 人物编号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3840480"/>
            <a:ext cx="539496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严格约束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Train Subjects ∩ Val Subjects  = ∅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Train Subjects ∩ Test Subjects = ∅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Val Subjects   ∩ Test Subjects = ∅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自定义划分：70 / 15 / 15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不声称官方 Protocol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1417320"/>
            <a:ext cx="48006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避免“先抽帧后按图片随机划分”导致相邻帧泄漏。
</a:t>
            </a:r>
            <a:endParaRPr lang="en-US" sz="1450" dirty="0"/>
          </a:p>
          <a:p>
            <a:r>
              <a:rPr lang="en-US" sz="145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同一 Subject 的所有视频和帧只能属于一个集合。
</a:t>
            </a:r>
            <a:endParaRPr lang="en-US" sz="1450" dirty="0"/>
          </a:p>
          <a:p>
            <a:r>
              <a:rPr lang="en-US" sz="145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该协议比单纯 Video-disjoint 更严格，适合当前课程实验。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第一周：OULU-NPU 同域 Baseline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ResNet18 + Subject-disjoint 测试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" y="1234440"/>
            <a:ext cx="219456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Accuracy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77240" y="1444752"/>
            <a:ext cx="219456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99.8161%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10312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AUC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0" y="1444752"/>
            <a:ext cx="210312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808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99.9999%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532120" y="1234440"/>
            <a:ext cx="20116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EER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532120" y="1444752"/>
            <a:ext cx="201168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6B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0.0526%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0" y="1234440"/>
            <a:ext cx="15544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错误样本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772400" y="1444752"/>
            <a:ext cx="1554480" cy="4206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21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05840" y="2743200"/>
            <a:ext cx="47548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混淆矩阵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真实类别      预测 Spoof   预测 Live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Spoof          7609          21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Live              0        3787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2560320"/>
            <a:ext cx="50749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第一周目标：跑通可复现 Baseline，并输出 Accuracy、AUC、EER、ROC 和混淆矩阵。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同域性能极高，但不能直接证明跨数据集泛化能力。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该结果为第二周跨域退化分析提供基准。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第二周：跨数据集 Baseline 明显退化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 OULU 模型，目标域仅测试</a:t>
            </a:r>
            <a:endParaRPr lang="en-US" sz="1000" dirty="0"/>
          </a:p>
        </p:txBody>
      </p:sp>
      <p:pic>
        <p:nvPicPr>
          <p:cNvPr id="4" name="Image 0" descr="/mnt/data/fas_artifacts/charts/week2_domain_sh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486400" cy="3063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234440"/>
            <a:ext cx="52578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跨域结果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目标域          Accuracy   AUC       EER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CASIA          28.0648%   23.4007%  69.8964%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MSU-MFSD       60.9356%   64.0805%  41.6813%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Replay-Attack  48.2725%   39.1893%  54.5629%</a:t>
            </a:r>
            <a:endParaRPr lang="en-US" sz="1060" dirty="0"/>
          </a:p>
        </p:txBody>
      </p:sp>
      <p:sp>
        <p:nvSpPr>
          <p:cNvPr id="6" name="Text 3"/>
          <p:cNvSpPr/>
          <p:nvPr/>
        </p:nvSpPr>
        <p:spPr>
          <a:xfrm>
            <a:off x="6400800" y="3886200"/>
            <a:ext cx="51663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结论：源域内几乎满分，但迁移到未见数据集后 AUC 大幅下降、EER 升高，说明模型存在明显域依赖。</a:t>
            </a:r>
            <a:endParaRPr lang="en-US" sz="1380" dirty="0"/>
          </a:p>
        </p:txBody>
      </p:sp>
      <p:sp>
        <p:nvSpPr>
          <p:cNvPr id="7" name="Text 4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第二周分析：域偏移是核心矛盾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跨域失败为第三周泛化增强提供动机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548640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4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不同数据集存在摄像设备、光照、图像质量和压缩差异。
</a:t>
            </a:r>
            <a:endParaRPr lang="en-US" sz="1440" dirty="0"/>
          </a:p>
          <a:p>
            <a:r>
              <a:rPr lang="en-US" sz="144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不同攻击介质会改变打印纹理、屏幕摩尔纹、反射和重采样痕迹。
</a:t>
            </a:r>
            <a:endParaRPr lang="en-US" sz="1440" dirty="0"/>
          </a:p>
          <a:p>
            <a:r>
              <a:rPr lang="en-US" sz="144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预处理流程与人脸裁切方式也可能引入数据集特有统计。
</a:t>
            </a:r>
            <a:endParaRPr lang="en-US" sz="1440" dirty="0"/>
          </a:p>
          <a:p>
            <a:r>
              <a:rPr lang="en-US" sz="144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CASIA 与 Replay-Attack 的 AUC 低于 0.5，提示目标域分数排序出现明显偏移。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6720840" y="1280160"/>
            <a:ext cx="40233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第三周问题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20840" y="1874520"/>
            <a:ext cx="45720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在不使用目标域训练数据的前提下，如何削弱模型对 OULU-NPU 外观统计的依赖，并提升 CASIA / MSU-MFSD / Replay-Attack 上的 AUC 与 EER？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第三周方法命名必须严谨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区分项目自定义配置与已有正式方法名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107442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报告名称                          性质 / 代码参数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Strong Data Augmentation          项目自定义强增强配置；augmentation=strong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Appearance Randomization          项目自定义外观随机化；augmentation=appearance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MixStyle                          已有正式方法名；method=mixstyle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Fourier Amplitude Augmentation    项目轻量频域实现；method=fourier</a:t>
            </a:r>
            <a:endParaRPr lang="en-US" sz="1070" dirty="0"/>
          </a:p>
        </p:txBody>
      </p:sp>
      <p:sp>
        <p:nvSpPr>
          <p:cNvPr id="5" name="Text 3"/>
          <p:cNvSpPr/>
          <p:nvPr/>
        </p:nvSpPr>
        <p:spPr>
          <a:xfrm>
            <a:off x="914400" y="388620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Strong 与 Appearance 不是论文算法名，而是项目自定义实验策略。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Appearance Randomization 早期写作 Appearance Augmentation，二者对应同一代码配置。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Fourier 是轻量 amplitude augmentation，不包含完整频域 FAS 网络或额外损失。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Strong 与 Appearance：两类像素空间策略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均为项目自定义训练配置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530352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Strong Data Augmentation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RandomResizedCrop scale=(0.80,1.00)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ColorJitter 0.40/0.40/0.40/0.10, p=0.80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RandomGrayscale p=0.15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GaussianBlur k=5, p=0.30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RandomErasing p=0.25</a:t>
            </a:r>
            <a:endParaRPr lang="en-US" sz="1060" dirty="0"/>
          </a:p>
        </p:txBody>
      </p:sp>
      <p:sp>
        <p:nvSpPr>
          <p:cNvPr id="5" name="Text 3"/>
          <p:cNvSpPr/>
          <p:nvPr/>
        </p:nvSpPr>
        <p:spPr>
          <a:xfrm>
            <a:off x="6355080" y="1143000"/>
            <a:ext cx="530352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Appearance Randomization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不使用 RandomResizedCrop / RandomErasing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ColorJitter 0.35/0.35/0.30/0.05, p=0.80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RandomGrayscale p=0.10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RandomAutocontrast p=0.15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GaussianBlur k=3, p=0.15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RandomAdjustSharpness p=0.10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1005840" y="4297680"/>
            <a:ext cx="10241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结果：Strong 主要改善 CASIA；Appearance 主要改善 Replay-Attack。二者均未实现三个目标域稳定提升。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MixStyle：特征统计层面的域泛化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在 ResNet18 浅层混合均值与标准差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534924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接入结构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conv1 → bn1 → relu → maxpool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layer1 → MixStyle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layer2 → MixStyle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layer3 → layer4 → avgpool → fc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参数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p=0.5, alpha=0.1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lambda ~ Beta(0.1,0.1)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629400" y="1417320"/>
            <a:ext cx="48920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训练阶段启用，验证和测试阶段关闭。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CASIA 与 Replay-Attack 完整改善。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MSU-MFSD 上 AUC 下降、EER 上升。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说明浅层统计混合能缓解部分风格偏移，但稳定性仍不足。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Fourier Amplitude Augmentation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同类别低频幅度谱混合，保留源样本相位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594360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算法流程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1. 反 ImageNet Normalize 到 [0,1]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2. 2D FFT，分离 amplitude 与 phase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3. fftshift 定位中心低频区域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4. 仅同类别 donor：Live↔Live，Spoof↔Spoof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5. 混合低频 amplitude，保留源样本 phase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6. IFFT 后重新 Normalize，再输入 ResNet18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995160" y="1188720"/>
            <a:ext cx="429768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参数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fourier_p = 0.5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fourier_max_lambda = 0.35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fourier_low_freq_ratio = 0.10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mixing = same-class only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95160" y="3429000"/>
            <a:ext cx="43891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设计动机：低频幅度更关联亮度、颜色、设备成像风格；相位更多保留空间结构。该方法扰动域相关外观统计，同时尽量保留真假判别内容。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第三周结果：Fourier 首次实现三域完整改善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完整改善定义：Accuracy↑、AUC↑、EER↓</a:t>
            </a:r>
            <a:endParaRPr lang="en-US" sz="1000" dirty="0"/>
          </a:p>
        </p:txBody>
      </p:sp>
      <p:pic>
        <p:nvPicPr>
          <p:cNvPr id="4" name="Image 0" descr="/mnt/data/fas_artifacts/charts/macro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715000" cy="3154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37960" y="1234440"/>
            <a:ext cx="466344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三目标域宏平均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方法        Avg Acc    Avg AUC    Avg EER   完整改善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Baseline    45.7576%   42.2235%   55.3802%  -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Strong      59.5185%   46.9866%   50.7384%  1/3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Appearance  50.5986%   47.1715%   51.7376%  2/3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MixStyle    53.5927%   46.5625%   52.2578%  2/3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Fourier     58.4002%   53.7558%   48.4219%  3/3</a:t>
            </a:r>
            <a:endParaRPr lang="en-US" sz="970" dirty="0"/>
          </a:p>
        </p:txBody>
      </p:sp>
      <p:sp>
        <p:nvSpPr>
          <p:cNvPr id="6" name="Text 3"/>
          <p:cNvSpPr/>
          <p:nvPr/>
        </p:nvSpPr>
        <p:spPr>
          <a:xfrm>
            <a:off x="6583680" y="4160520"/>
            <a:ext cx="4617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Strong 的平均 Accuracy 最高；Fourier 的平均 AUC 最高、平均 EER 最低，并且一致性最好。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第四周：五方法跨域 AUC / EER 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跨域评价更应关注排序能力和错误率</a:t>
            </a:r>
            <a:endParaRPr lang="en-US" sz="1000" dirty="0"/>
          </a:p>
        </p:txBody>
      </p:sp>
      <p:pic>
        <p:nvPicPr>
          <p:cNvPr id="4" name="Image 0" descr="/mnt/data/fas_artifacts/charts/auc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5577840" cy="3108960"/>
          </a:xfrm>
          <a:prstGeom prst="rect">
            <a:avLst/>
          </a:prstGeom>
        </p:spPr>
      </p:pic>
      <p:pic>
        <p:nvPicPr>
          <p:cNvPr id="5" name="Image 1" descr="/mnt/data/fas_artifacts/charts/eer_compari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7280"/>
            <a:ext cx="5394960" cy="31089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14400" y="4663440"/>
            <a:ext cx="10332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观察：Strong 在 CASIA 上局部最优；Fourier 在 MSU-MFSD 和 Replay-Attack 上最优，并且是三域一致改善的唯一方案。</a:t>
            </a:r>
            <a:endParaRPr lang="en-US" sz="1420" dirty="0"/>
          </a:p>
        </p:txBody>
      </p:sp>
      <p:sp>
        <p:nvSpPr>
          <p:cNvPr id="7" name="Text 3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为什么最终推荐 Fourier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三域一致改善是最关键证据</a:t>
            </a:r>
            <a:endParaRPr lang="en-US" sz="1000" dirty="0"/>
          </a:p>
        </p:txBody>
      </p:sp>
      <p:pic>
        <p:nvPicPr>
          <p:cNvPr id="4" name="Image 0" descr="/mnt/data/fas_artifacts/charts/fourier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15568"/>
            <a:ext cx="5715000" cy="3154680"/>
          </a:xfrm>
          <a:prstGeom prst="rect">
            <a:avLst/>
          </a:prstGeom>
        </p:spPr>
      </p:pic>
      <p:pic>
        <p:nvPicPr>
          <p:cNvPr id="5" name="Image 1" descr="/mnt/data/fas_artifacts/charts/improvement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097280"/>
            <a:ext cx="4526280" cy="33375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14400" y="4800600"/>
            <a:ext cx="10241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Fourier 相对 Baseline 在 CASIA、MSU-MFSD、Replay-Attack 上均满足：Accuracy↑、AUC↑、EER↓。这说明其收益不依赖单一目标域。</a:t>
            </a:r>
            <a:endParaRPr lang="en-US" sz="1420" dirty="0"/>
          </a:p>
        </p:txBody>
      </p:sp>
      <p:sp>
        <p:nvSpPr>
          <p:cNvPr id="7" name="Text 3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第四周消融式分析结论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不同机制对应不同域偏移类型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9848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Strong：CASIA 最优，但 MSU-MFSD 和 Replay-Attack 的 AUC/EER 不稳定，说明强增强可能破坏有用 FAS 纹理。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Appearance：改善 Replay-Attack，说明外观/成像风格随机化能够覆盖部分域偏移。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MixStyle：改善部分浅层风格偏移，但对 MSU-MFSD 不稳定。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Fourier：三域一致改善，说明低频幅度扰动更适合当前 Source-only 泛化设置。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4709160"/>
            <a:ext cx="9784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不能过度表述：Fourier 改善了跨域泛化一致性，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但 CASIA 绝对 AUC 仍低于 0.5，不能说已经解决跨域问题。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最终结论与边界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稳定改善不等于彻底解决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539496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第一周：ResNet18 在 OULU-NPU 同域几乎满分。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第二周：迁移到 CASIA、MSU-MFSD、Replay-Attack 后性能显著下降。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第三周：Strong、Appearance、MixStyle 均只能改善部分目标域。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第四周：Fourier 是唯一三域完整改善的方法，平均 AUC 最高、平均 EER 最低。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7512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B86B0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保留限制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75120" y="1828800"/>
            <a:ext cx="4800600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CASIA 上 Fourier 的绝对 AUC 仍低于 0.5。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当前是单源域训练，没有使用多源域或目标域无监督适应。
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Fourier 是轻量幅度扰动实现，不是完整频域 FAS 网络。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4206240"/>
            <a:ext cx="4663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37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推荐表述：频域幅度增强能够稳定改善跨数据集泛化，但尚未彻底解决 FAS 跨域泛化问题。</a:t>
            </a:r>
            <a:endParaRPr lang="en-US" sz="1370" dirty="0"/>
          </a:p>
        </p:txBody>
      </p:sp>
      <p:sp>
        <p:nvSpPr>
          <p:cNvPr id="8" name="Text 6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仓库与最终产物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代码、报告、图表和审计结果已形成可复现实验档案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57784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3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关键文档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README.md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DATA_PREPROCESSING.md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EXPERIMENT_RESULTS.md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METHOD_IMPLEMENTATION.md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WEEK1_REPORT.md / WEEK2_REPORT.md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WEEK3_FINAL_REPORT.md / WEEK4_REPORT.md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outputs_data_audit/</a:t>
            </a:r>
            <a:endParaRPr lang="en-US" sz="1170" dirty="0"/>
          </a:p>
          <a:p>
            <a:pPr indent="0" marL="0">
              <a:buNone/>
            </a:pPr>
            <a:r>
              <a:rPr lang="en-US" sz="1170" dirty="0">
                <a:solidFill>
                  <a:srgbClr val="111827"/>
                </a:solidFill>
                <a:latin typeface="Noto Sans Mono CJK JP" pitchFamily="34" charset="0"/>
                <a:ea typeface="Noto Sans Mono CJK JP" pitchFamily="34" charset="-122"/>
                <a:cs typeface="Noto Sans Mono CJK JP" pitchFamily="34" charset="-120"/>
              </a:rPr>
              <a:t>outputs_week4/</a:t>
            </a:r>
            <a:endParaRPr lang="en-US" sz="1170" dirty="0"/>
          </a:p>
        </p:txBody>
      </p:sp>
      <p:sp>
        <p:nvSpPr>
          <p:cNvPr id="5" name="Text 3"/>
          <p:cNvSpPr/>
          <p:nvPr/>
        </p:nvSpPr>
        <p:spPr>
          <a:xfrm>
            <a:off x="672084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答辩主线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20840" y="1874520"/>
            <a:ext cx="45720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数据审计 → Baseline 很强 → 跨域失败 → 域偏移诊断 → 泛化增强探索 → Fourier 三域一致改善 → 局限性与未来工作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20840" y="42976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808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谢谢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424160" y="6565392"/>
            <a:ext cx="1325880" cy="155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FAS 最终答辩 · 17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ResNet18 的跨数据集虚假人脸检测实验最终答辩</dc:title>
  <dc:subject>FAS 最终答辩</dc:subject>
  <dc:creator>OpenAI</dc:creator>
  <cp:lastModifiedBy>OpenAI</cp:lastModifiedBy>
  <cp:revision>1</cp:revision>
  <dcterms:created xsi:type="dcterms:W3CDTF">2026-09-15T03:31:53Z</dcterms:created>
  <dcterms:modified xsi:type="dcterms:W3CDTF">2026-09-15T03:31:53Z</dcterms:modified>
</cp:coreProperties>
</file>